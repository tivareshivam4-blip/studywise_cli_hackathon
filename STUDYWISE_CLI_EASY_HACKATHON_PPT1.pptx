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70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hna Prasad" userId="5670c8665ae24de8" providerId="LiveId" clId="{D67BB55A-5D2F-4F14-92AD-C9D5BDAFCD2B}"/>
    <pc:docChg chg="custSel modSld">
      <pc:chgData name="Krishna Prasad" userId="5670c8665ae24de8" providerId="LiveId" clId="{D67BB55A-5D2F-4F14-92AD-C9D5BDAFCD2B}" dt="2026-09-09T09:42:21.594" v="0" actId="478"/>
      <pc:docMkLst>
        <pc:docMk/>
      </pc:docMkLst>
      <pc:sldChg chg="delSp mod">
        <pc:chgData name="Krishna Prasad" userId="5670c8665ae24de8" providerId="LiveId" clId="{D67BB55A-5D2F-4F14-92AD-C9D5BDAFCD2B}" dt="2026-09-09T09:42:21.594" v="0" actId="478"/>
        <pc:sldMkLst>
          <pc:docMk/>
          <pc:sldMk cId="0" sldId="256"/>
        </pc:sldMkLst>
        <pc:spChg chg="del">
          <ac:chgData name="Krishna Prasad" userId="5670c8665ae24de8" providerId="LiveId" clId="{D67BB55A-5D2F-4F14-92AD-C9D5BDAFCD2B}" dt="2026-09-09T09:42:21.594" v="0" actId="478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40"/>
            <a:ext cx="9144000" cy="165576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1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7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904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565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41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52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7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7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929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622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766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1" indent="0">
              <a:buNone/>
              <a:defRPr sz="1000"/>
            </a:lvl4pPr>
            <a:lvl5pPr marL="1828709" indent="0">
              <a:buNone/>
              <a:defRPr sz="1000"/>
            </a:lvl5pPr>
            <a:lvl6pPr marL="2285887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1" indent="0">
              <a:buNone/>
              <a:defRPr sz="2000"/>
            </a:lvl4pPr>
            <a:lvl5pPr marL="1828709" indent="0">
              <a:buNone/>
              <a:defRPr sz="2000"/>
            </a:lvl5pPr>
            <a:lvl6pPr marL="2285887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1" indent="0">
              <a:buNone/>
              <a:defRPr sz="1000"/>
            </a:lvl4pPr>
            <a:lvl5pPr marL="1828709" indent="0">
              <a:buNone/>
              <a:defRPr sz="1000"/>
            </a:lvl5pPr>
            <a:lvl6pPr marL="2285887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905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320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859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6948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36555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8845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1411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59886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47481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16886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85398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59474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28025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3679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3" y="6727821"/>
            <a:ext cx="11836399" cy="13017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 dirty="0"/>
          </a:p>
        </p:txBody>
      </p:sp>
      <p:sp>
        <p:nvSpPr>
          <p:cNvPr id="8" name="Rectangle 7"/>
          <p:cNvSpPr/>
          <p:nvPr/>
        </p:nvSpPr>
        <p:spPr>
          <a:xfrm>
            <a:off x="12056982" y="0"/>
            <a:ext cx="135021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 dirty="0"/>
          </a:p>
        </p:txBody>
      </p:sp>
      <p:sp>
        <p:nvSpPr>
          <p:cNvPr id="9" name="Rectangle 8"/>
          <p:cNvSpPr/>
          <p:nvPr/>
        </p:nvSpPr>
        <p:spPr>
          <a:xfrm>
            <a:off x="2" y="0"/>
            <a:ext cx="135020" cy="6858000"/>
          </a:xfrm>
          <a:prstGeom prst="rect">
            <a:avLst/>
          </a:prstGeom>
          <a:solidFill>
            <a:srgbClr val="0089D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 dirty="0"/>
          </a:p>
        </p:txBody>
      </p:sp>
      <p:sp>
        <p:nvSpPr>
          <p:cNvPr id="10" name="Rectangle 9"/>
          <p:cNvSpPr/>
          <p:nvPr/>
        </p:nvSpPr>
        <p:spPr>
          <a:xfrm>
            <a:off x="353262" y="5"/>
            <a:ext cx="11838740" cy="155575"/>
          </a:xfrm>
          <a:prstGeom prst="rect">
            <a:avLst/>
          </a:prstGeom>
          <a:solidFill>
            <a:srgbClr val="0089D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 dirty="0"/>
          </a:p>
        </p:txBody>
      </p:sp>
      <p:sp>
        <p:nvSpPr>
          <p:cNvPr id="11" name="Pentagon 10"/>
          <p:cNvSpPr/>
          <p:nvPr/>
        </p:nvSpPr>
        <p:spPr>
          <a:xfrm rot="5400000">
            <a:off x="52388" y="-52387"/>
            <a:ext cx="365127" cy="469904"/>
          </a:xfrm>
          <a:prstGeom prst="homePlate">
            <a:avLst/>
          </a:prstGeom>
          <a:solidFill>
            <a:schemeClr val="accent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 dirty="0"/>
          </a:p>
        </p:txBody>
      </p:sp>
      <p:sp>
        <p:nvSpPr>
          <p:cNvPr id="12" name="Pentagon 11"/>
          <p:cNvSpPr/>
          <p:nvPr/>
        </p:nvSpPr>
        <p:spPr>
          <a:xfrm rot="16200000" flipV="1">
            <a:off x="11774489" y="6450015"/>
            <a:ext cx="365127" cy="469904"/>
          </a:xfrm>
          <a:prstGeom prst="homePlate">
            <a:avLst/>
          </a:prstGeom>
          <a:solidFill>
            <a:srgbClr val="0089D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 dirty="0"/>
          </a:p>
        </p:txBody>
      </p:sp>
      <p:pic>
        <p:nvPicPr>
          <p:cNvPr id="13" name="Picture 12" descr="F:\F\abdesktop\Logo_NTTF_2019\NTTF Logo_png.png">
            <a:extLst>
              <a:ext uri="{FF2B5EF4-FFF2-40B4-BE49-F238E27FC236}">
                <a16:creationId xmlns:a16="http://schemas.microsoft.com/office/drawing/2014/main" id="{E4EB309A-98E3-9B48-B606-7F9D4FAE3B73}"/>
              </a:ext>
            </a:extLst>
          </p:cNvPr>
          <p:cNvPicPr/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5421" y="236736"/>
            <a:ext cx="2851631" cy="8389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6981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7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1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7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7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132588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162741"/>
                </a:solidFill>
                <a:latin typeface="Aptos"/>
              </a:rPr>
              <a:t>STUDYWISE CLI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6217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009296"/>
                </a:solidFill>
                <a:latin typeface="Aptos"/>
              </a:rPr>
              <a:t>OFFLINE PERSONAL PRODUCTIVITY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2D353E"/>
                </a:solidFill>
                <a:latin typeface="Aptos"/>
              </a:rPr>
              <a:t>A simple terminal app for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62741"/>
                </a:solidFill>
                <a:latin typeface="Aptos"/>
              </a:rPr>
              <a:t>HACKATHON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6200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D353E"/>
                </a:solidFill>
                <a:latin typeface="Aptos"/>
              </a:rPr>
              <a:t>AI AVENGERS  •  NTTF MURBAD  •  CP08 / CS2</a:t>
            </a:r>
          </a:p>
        </p:txBody>
      </p:sp>
      <p:pic>
        <p:nvPicPr>
          <p:cNvPr id="8" name="Picture 7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902" y="1517904"/>
            <a:ext cx="6115722" cy="34655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06640" y="56235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62741"/>
                </a:solidFill>
                <a:latin typeface="Aptos"/>
              </a:rPr>
              <a:t>PLAN • TRACK • LEARN • GROW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3212" y="59436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dirty="0">
                <a:solidFill>
                  <a:srgbClr val="009296"/>
                </a:solidFill>
                <a:latin typeface="Apto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61796"/>
            <a:ext cx="99669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1" dirty="0">
                <a:solidFill>
                  <a:srgbClr val="162741"/>
                </a:solidFill>
                <a:latin typeface="Aptos"/>
              </a:rPr>
              <a:t>INTRODUCTION</a:t>
            </a:r>
            <a:endParaRPr sz="2800" b="1" dirty="0">
              <a:solidFill>
                <a:srgbClr val="162741"/>
              </a:solidFill>
              <a:latin typeface="Aptos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02920" y="1097280"/>
            <a:ext cx="11155680" cy="0"/>
          </a:xfrm>
          <a:prstGeom prst="line">
            <a:avLst/>
          </a:prstGeom>
          <a:ln w="12700">
            <a:solidFill>
              <a:srgbClr val="D7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4630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162741"/>
                </a:solidFill>
                <a:latin typeface="Aptos"/>
              </a:rPr>
              <a:t>StudyWise CLI is one terminal application that helps students manage daily productivity.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73152" cy="1417320"/>
          </a:xfrm>
          <a:prstGeom prst="roundRect">
            <a:avLst/>
          </a:prstGeom>
          <a:solidFill>
            <a:srgbClr val="009296"/>
          </a:solidFill>
          <a:ln>
            <a:solidFill>
              <a:srgbClr val="009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65176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62741"/>
                </a:solidFill>
                <a:latin typeface="Aptos"/>
              </a:rPr>
              <a:t>📚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10896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D353E"/>
                </a:solidFill>
                <a:latin typeface="Aptos"/>
              </a:rPr>
              <a:t>Create tasks and track study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4688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89120" y="2468880"/>
            <a:ext cx="73152" cy="141732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45152" y="265176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62741"/>
                </a:solidFill>
                <a:latin typeface="Aptos"/>
              </a:rPr>
              <a:t>💰 EXPENSES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310896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D353E"/>
                </a:solidFill>
                <a:latin typeface="Aptos"/>
              </a:rPr>
              <a:t>Record spending and set a budget.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4688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46720" y="2468880"/>
            <a:ext cx="73152" cy="1417320"/>
          </a:xfrm>
          <a:prstGeom prst="roundRect">
            <a:avLst/>
          </a:prstGeom>
          <a:solidFill>
            <a:srgbClr val="B054A5"/>
          </a:solidFill>
          <a:ln>
            <a:solidFill>
              <a:srgbClr val="B05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02752" y="265176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62741"/>
                </a:solidFill>
                <a:latin typeface="Aptos"/>
              </a:rPr>
              <a:t>🧠 FLASHCARDS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310896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D353E"/>
                </a:solidFill>
                <a:latin typeface="Aptos"/>
              </a:rPr>
              <a:t>Revise topics using question cards.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4572000"/>
            <a:ext cx="8503920" cy="868680"/>
          </a:xfrm>
          <a:prstGeom prst="roundRect">
            <a:avLst/>
          </a:prstGeom>
          <a:solidFill>
            <a:srgbClr val="E8F2F4"/>
          </a:solidFill>
          <a:ln>
            <a:solidFill>
              <a:srgbClr val="E8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65960" y="48280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009296"/>
                </a:solidFill>
                <a:latin typeface="Aptos"/>
              </a:rPr>
              <a:t>Everything is saved locally using SQLite.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4707C"/>
                </a:solidFill>
                <a:latin typeface="Aptos"/>
              </a:rPr>
              <a:t>STUDYWISE CLI • AI AVENGERS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6528816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009296"/>
                </a:solidFill>
                <a:latin typeface="Aptos"/>
              </a:rPr>
              <a:t>HACKATHON 2026–27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6636" y="630936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dirty="0">
                <a:solidFill>
                  <a:srgbClr val="009296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493776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162741"/>
                </a:solidFill>
                <a:latin typeface="Aptos"/>
              </a:rPr>
              <a:t>Problem Statement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97280"/>
            <a:ext cx="11155680" cy="0"/>
          </a:xfrm>
          <a:prstGeom prst="line">
            <a:avLst/>
          </a:prstGeom>
          <a:ln w="12700">
            <a:solidFill>
              <a:srgbClr val="D7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162741"/>
                </a:solidFill>
                <a:latin typeface="Aptos"/>
              </a:rPr>
              <a:t>Students use different apps for different daily tasks.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73152" cy="1417320"/>
          </a:xfrm>
          <a:prstGeom prst="roundRect">
            <a:avLst/>
          </a:prstGeom>
          <a:solidFill>
            <a:srgbClr val="009296"/>
          </a:solidFill>
          <a:ln>
            <a:solidFill>
              <a:srgbClr val="009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51460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62741"/>
                </a:solidFill>
                <a:latin typeface="Aptos"/>
              </a:rPr>
              <a:t>01  SCATTERED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97180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D353E"/>
                </a:solidFill>
                <a:latin typeface="Aptos"/>
              </a:rPr>
              <a:t>Study and expenses are kept separately.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3317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89120" y="2331720"/>
            <a:ext cx="73152" cy="1417320"/>
          </a:xfrm>
          <a:prstGeom prst="roundRect">
            <a:avLst/>
          </a:prstGeom>
          <a:solidFill>
            <a:srgbClr val="B054A5"/>
          </a:solidFill>
          <a:ln>
            <a:solidFill>
              <a:srgbClr val="B05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45152" y="251460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62741"/>
                </a:solidFill>
                <a:latin typeface="Aptos"/>
              </a:rPr>
              <a:t>02  MISSED REVISION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97180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D353E"/>
                </a:solidFill>
                <a:latin typeface="Aptos"/>
              </a:rPr>
              <a:t>Students may forget to revise on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3317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46720" y="2331720"/>
            <a:ext cx="73152" cy="1417320"/>
          </a:xfrm>
          <a:prstGeom prst="roundRect">
            <a:avLst/>
          </a:prstGeom>
          <a:solidFill>
            <a:srgbClr val="ECB236"/>
          </a:solidFill>
          <a:ln>
            <a:solidFill>
              <a:srgbClr val="ECB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02752" y="251460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62741"/>
                </a:solidFill>
                <a:latin typeface="Aptos"/>
              </a:rPr>
              <a:t>03  NO SINGLE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97180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D353E"/>
                </a:solidFill>
                <a:latin typeface="Aptos"/>
              </a:rPr>
              <a:t>Progress is not visible in one place.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4617720"/>
            <a:ext cx="8138160" cy="822960"/>
          </a:xfrm>
          <a:prstGeom prst="roundRect">
            <a:avLst/>
          </a:prstGeom>
          <a:solidFill>
            <a:srgbClr val="E8F2F4"/>
          </a:solidFill>
          <a:ln>
            <a:solidFill>
              <a:srgbClr val="E8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48840" y="484632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009296"/>
                </a:solidFill>
                <a:latin typeface="Aptos"/>
              </a:rPr>
              <a:t>Our idea: combine these simple needs into one CLI.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4707C"/>
                </a:solidFill>
                <a:latin typeface="Aptos"/>
              </a:rPr>
              <a:t>STUDYWISE CLI • AI AVENGERS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6528816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009296"/>
                </a:solidFill>
                <a:latin typeface="Aptos"/>
              </a:rPr>
              <a:t>HACKATHON 2026–27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1208" y="66294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dirty="0">
                <a:solidFill>
                  <a:srgbClr val="009296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" y="603504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162741"/>
                </a:solidFill>
                <a:latin typeface="Aptos"/>
              </a:rPr>
              <a:t>Our Solution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97280"/>
            <a:ext cx="11155680" cy="0"/>
          </a:xfrm>
          <a:prstGeom prst="line">
            <a:avLst/>
          </a:prstGeom>
          <a:ln w="12700">
            <a:solidFill>
              <a:srgbClr val="D7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62741"/>
                </a:solidFill>
                <a:latin typeface="Aptos"/>
              </a:rPr>
              <a:t>One simple command-line system for planning, learning and tracking.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73152" cy="1508760"/>
          </a:xfrm>
          <a:prstGeom prst="roundRect">
            <a:avLst/>
          </a:prstGeom>
          <a:solidFill>
            <a:srgbClr val="009296"/>
          </a:solidFill>
          <a:ln>
            <a:solidFill>
              <a:srgbClr val="009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51460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62741"/>
                </a:solidFill>
                <a:latin typeface="Aptos"/>
              </a:rPr>
              <a:t>📚 STUDY PLANNER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971800"/>
            <a:ext cx="2926080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D353E"/>
                </a:solidFill>
                <a:latin typeface="Aptos"/>
              </a:rPr>
              <a:t>Tasks • subjects • study timer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33172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89120" y="2331720"/>
            <a:ext cx="73152" cy="150876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45152" y="251460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62741"/>
                </a:solidFill>
                <a:latin typeface="Aptos"/>
              </a:rPr>
              <a:t>💰 EXPENSE TRACKER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971800"/>
            <a:ext cx="2926080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D353E"/>
                </a:solidFill>
                <a:latin typeface="Aptos"/>
              </a:rPr>
              <a:t>Expenses • budget • summary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33172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46720" y="2331720"/>
            <a:ext cx="73152" cy="1508760"/>
          </a:xfrm>
          <a:prstGeom prst="roundRect">
            <a:avLst/>
          </a:prstGeom>
          <a:solidFill>
            <a:srgbClr val="B054A5"/>
          </a:solidFill>
          <a:ln>
            <a:solidFill>
              <a:srgbClr val="B05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02752" y="251460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62741"/>
                </a:solidFill>
                <a:latin typeface="Aptos"/>
              </a:rPr>
              <a:t>🧠 FLASHCARDS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971800"/>
            <a:ext cx="2926080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D353E"/>
                </a:solidFill>
                <a:latin typeface="Aptos"/>
              </a:rPr>
              <a:t>Cards • review • scheduling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438912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560320" y="4389120"/>
            <a:ext cx="73152" cy="1325880"/>
          </a:xfrm>
          <a:prstGeom prst="roundRect">
            <a:avLst/>
          </a:prstGeom>
          <a:solidFill>
            <a:srgbClr val="ECB236"/>
          </a:solidFill>
          <a:ln>
            <a:solidFill>
              <a:srgbClr val="ECB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16352" y="457200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62741"/>
                </a:solidFill>
                <a:latin typeface="Aptos"/>
              </a:rPr>
              <a:t>📊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6352" y="5029200"/>
            <a:ext cx="2926080" cy="502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D353E"/>
                </a:solidFill>
                <a:latin typeface="Aptos"/>
              </a:rPr>
              <a:t>Shows daily progress.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38912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17920" y="4389120"/>
            <a:ext cx="73152" cy="1325880"/>
          </a:xfrm>
          <a:prstGeom prst="roundRect">
            <a:avLst/>
          </a:prstGeom>
          <a:solidFill>
            <a:srgbClr val="28AAB4"/>
          </a:solidFill>
          <a:ln>
            <a:solidFill>
              <a:srgbClr val="28A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73952" y="457200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62741"/>
                </a:solidFill>
                <a:latin typeface="Aptos"/>
              </a:rPr>
              <a:t>🏆 GAMIFICATION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5029200"/>
            <a:ext cx="2926080" cy="502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D353E"/>
                </a:solidFill>
                <a:latin typeface="Aptos"/>
              </a:rPr>
              <a:t>XP, levels and streaks.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2881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4707C"/>
                </a:solidFill>
                <a:latin typeface="Aptos"/>
              </a:rPr>
              <a:t>STUDYWISE CLI • AI AVENGERS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6528816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009296"/>
                </a:solidFill>
                <a:latin typeface="Aptos"/>
              </a:rPr>
              <a:t>HACKATHON 2026–27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6636" y="676656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09296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603504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162741"/>
                </a:solidFill>
                <a:latin typeface="Aptos"/>
              </a:rPr>
              <a:t>Main Features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97280"/>
            <a:ext cx="11155680" cy="0"/>
          </a:xfrm>
          <a:prstGeom prst="line">
            <a:avLst/>
          </a:prstGeom>
          <a:ln w="12700">
            <a:solidFill>
              <a:srgbClr val="D7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46304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73152" cy="1600200"/>
          </a:xfrm>
          <a:prstGeom prst="roundRect">
            <a:avLst/>
          </a:prstGeom>
          <a:solidFill>
            <a:srgbClr val="009296"/>
          </a:solidFill>
          <a:ln>
            <a:solidFill>
              <a:srgbClr val="009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64592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62741"/>
                </a:solidFill>
                <a:latin typeface="Aptos"/>
              </a:rPr>
              <a:t>Study Planner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103120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D353E"/>
                </a:solidFill>
                <a:latin typeface="Aptos"/>
              </a:rPr>
              <a:t>Create and complete study tasks.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46304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80559" y="1463040"/>
            <a:ext cx="73152" cy="160020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36592" y="164592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62741"/>
                </a:solidFill>
                <a:latin typeface="Aptos"/>
              </a:rPr>
              <a:t>Expense Tracker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2103120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D353E"/>
                </a:solidFill>
                <a:latin typeface="Aptos"/>
              </a:rPr>
              <a:t>Add expenses and monthly budget.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6304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0" y="1463040"/>
            <a:ext cx="73152" cy="1600200"/>
          </a:xfrm>
          <a:prstGeom prst="roundRect">
            <a:avLst/>
          </a:prstGeom>
          <a:solidFill>
            <a:srgbClr val="B054A5"/>
          </a:solidFill>
          <a:ln>
            <a:solidFill>
              <a:srgbClr val="B05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85632" y="164592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62741"/>
                </a:solidFill>
                <a:latin typeface="Aptos"/>
              </a:rPr>
              <a:t>Flashcards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2103120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D353E"/>
                </a:solidFill>
                <a:latin typeface="Aptos"/>
              </a:rPr>
              <a:t>Create decks and revise cards.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290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1520" y="3429000"/>
            <a:ext cx="73152" cy="1600200"/>
          </a:xfrm>
          <a:prstGeom prst="roundRect">
            <a:avLst/>
          </a:prstGeom>
          <a:solidFill>
            <a:srgbClr val="B054A5"/>
          </a:solidFill>
          <a:ln>
            <a:solidFill>
              <a:srgbClr val="B05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361188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62741"/>
                </a:solidFill>
                <a:latin typeface="Aptos"/>
              </a:rPr>
              <a:t>Spaced Revision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069080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D353E"/>
                </a:solidFill>
                <a:latin typeface="Aptos"/>
              </a:rPr>
              <a:t>Shows cards again after a gap.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4290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480559" y="3429000"/>
            <a:ext cx="73152" cy="1600200"/>
          </a:xfrm>
          <a:prstGeom prst="roundRect">
            <a:avLst/>
          </a:prstGeom>
          <a:solidFill>
            <a:srgbClr val="009296"/>
          </a:solidFill>
          <a:ln>
            <a:solidFill>
              <a:srgbClr val="009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36592" y="361188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62741"/>
                </a:solidFill>
                <a:latin typeface="Aptos"/>
              </a:rPr>
              <a:t>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2" y="4069080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D353E"/>
                </a:solidFill>
                <a:latin typeface="Aptos"/>
              </a:rPr>
              <a:t>Shows important daily stats.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4290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229600" y="3429000"/>
            <a:ext cx="73152" cy="1600200"/>
          </a:xfrm>
          <a:prstGeom prst="roundRect">
            <a:avLst/>
          </a:prstGeom>
          <a:solidFill>
            <a:srgbClr val="ECB236"/>
          </a:solidFill>
          <a:ln>
            <a:solidFill>
              <a:srgbClr val="ECB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85632" y="361188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62741"/>
                </a:solidFill>
                <a:latin typeface="Aptos"/>
              </a:rPr>
              <a:t>Gamification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4069080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D353E"/>
                </a:solidFill>
                <a:latin typeface="Aptos"/>
              </a:rPr>
              <a:t>Earn XP and build streaks.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2881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4707C"/>
                </a:solidFill>
                <a:latin typeface="Aptos"/>
              </a:rPr>
              <a:t>STUDYWISE CLI • AI AVENGERS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6528816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009296"/>
                </a:solidFill>
                <a:latin typeface="Aptos"/>
              </a:rPr>
              <a:t>HACKATHON 2026–27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0081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dirty="0">
                <a:solidFill>
                  <a:srgbClr val="009296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571501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162741"/>
                </a:solidFill>
                <a:latin typeface="Aptos"/>
              </a:rPr>
              <a:t>User Interface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97280"/>
            <a:ext cx="11155680" cy="0"/>
          </a:xfrm>
          <a:prstGeom prst="line">
            <a:avLst/>
          </a:prstGeom>
          <a:ln w="12700">
            <a:solidFill>
              <a:srgbClr val="D7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17320"/>
            <a:ext cx="6400800" cy="3627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645920"/>
            <a:ext cx="374903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53E"/>
                </a:solidFill>
                <a:latin typeface="Aptos"/>
              </a:defRPr>
            </a:pPr>
            <a:r>
              <a:t>• Simple numbered menu</a:t>
            </a:r>
          </a:p>
          <a:p>
            <a:pPr>
              <a:spcAft>
                <a:spcPts val="800"/>
              </a:spcAft>
              <a:defRPr sz="1800">
                <a:solidFill>
                  <a:srgbClr val="2D353E"/>
                </a:solidFill>
                <a:latin typeface="Aptos"/>
              </a:defRPr>
            </a:pPr>
            <a:r>
              <a:t>• Easy-to-read tables</a:t>
            </a:r>
          </a:p>
          <a:p>
            <a:pPr>
              <a:spcAft>
                <a:spcPts val="800"/>
              </a:spcAft>
              <a:defRPr sz="1800">
                <a:solidFill>
                  <a:srgbClr val="2D353E"/>
                </a:solidFill>
                <a:latin typeface="Aptos"/>
              </a:defRPr>
            </a:pPr>
            <a:r>
              <a:t>• Progress bars and panels</a:t>
            </a:r>
          </a:p>
          <a:p>
            <a:pPr>
              <a:spcAft>
                <a:spcPts val="800"/>
              </a:spcAft>
              <a:defRPr sz="1800">
                <a:solidFill>
                  <a:srgbClr val="2D353E"/>
                </a:solidFill>
                <a:latin typeface="Aptos"/>
              </a:defRPr>
            </a:pPr>
            <a:r>
              <a:t>• All features run inside the terminal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4434840"/>
            <a:ext cx="3703320" cy="960120"/>
          </a:xfrm>
          <a:prstGeom prst="roundRect">
            <a:avLst/>
          </a:prstGeom>
          <a:solidFill>
            <a:srgbClr val="E8F2F4"/>
          </a:solidFill>
          <a:ln>
            <a:solidFill>
              <a:srgbClr val="E8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0" y="4709160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009296"/>
                </a:solidFill>
                <a:latin typeface="Aptos"/>
              </a:rPr>
              <a:t>Goal: easy for a student to use every 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4707C"/>
                </a:solidFill>
                <a:latin typeface="Aptos"/>
              </a:rPr>
              <a:t>STUDYWISE CLI • AI AVENGERS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528816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009296"/>
                </a:solidFill>
                <a:latin typeface="Aptos"/>
              </a:rPr>
              <a:t>HACKATHON 2026–27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76656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dirty="0">
                <a:solidFill>
                  <a:srgbClr val="009296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617221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162741"/>
                </a:solidFill>
                <a:latin typeface="Aptos"/>
              </a:rPr>
              <a:t>Dashboard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97280"/>
            <a:ext cx="11155680" cy="0"/>
          </a:xfrm>
          <a:prstGeom prst="line">
            <a:avLst/>
          </a:prstGeom>
          <a:ln w="12700">
            <a:solidFill>
              <a:srgbClr val="D7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7315200" cy="4145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79" y="164592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53E"/>
                </a:solidFill>
                <a:latin typeface="Aptos"/>
              </a:defRPr>
            </a:pPr>
            <a:r>
              <a:t>• Study time</a:t>
            </a:r>
          </a:p>
          <a:p>
            <a:pPr>
              <a:spcAft>
                <a:spcPts val="800"/>
              </a:spcAft>
              <a:defRPr sz="1800">
                <a:solidFill>
                  <a:srgbClr val="2D353E"/>
                </a:solidFill>
                <a:latin typeface="Aptos"/>
              </a:defRPr>
            </a:pPr>
            <a:r>
              <a:t>• Pending tasks</a:t>
            </a:r>
          </a:p>
          <a:p>
            <a:pPr>
              <a:spcAft>
                <a:spcPts val="800"/>
              </a:spcAft>
              <a:defRPr sz="1800">
                <a:solidFill>
                  <a:srgbClr val="2D353E"/>
                </a:solidFill>
                <a:latin typeface="Aptos"/>
              </a:defRPr>
            </a:pPr>
            <a:r>
              <a:t>• Monthly spending</a:t>
            </a:r>
          </a:p>
          <a:p>
            <a:pPr>
              <a:spcAft>
                <a:spcPts val="800"/>
              </a:spcAft>
              <a:defRPr sz="1800">
                <a:solidFill>
                  <a:srgbClr val="2D353E"/>
                </a:solidFill>
                <a:latin typeface="Aptos"/>
              </a:defRPr>
            </a:pPr>
            <a:r>
              <a:t>• Flashcards due</a:t>
            </a:r>
          </a:p>
          <a:p>
            <a:pPr>
              <a:spcAft>
                <a:spcPts val="800"/>
              </a:spcAft>
              <a:defRPr sz="1800">
                <a:solidFill>
                  <a:srgbClr val="2D353E"/>
                </a:solidFill>
                <a:latin typeface="Aptos"/>
              </a:defRPr>
            </a:pPr>
            <a:r>
              <a:t>• XP and streak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512064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009296"/>
                </a:solidFill>
                <a:latin typeface="Aptos"/>
              </a:rPr>
              <a:t>One screen = quick progress check.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4707C"/>
                </a:solidFill>
                <a:latin typeface="Aptos"/>
              </a:rPr>
              <a:t>STUDYWISE CLI • AI AVENGERS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28816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009296"/>
                </a:solidFill>
                <a:latin typeface="Aptos"/>
              </a:rPr>
              <a:t>HACKATHON 2026–27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48641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dirty="0">
                <a:solidFill>
                  <a:srgbClr val="009296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480061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162741"/>
                </a:solidFill>
                <a:latin typeface="Aptos"/>
              </a:rPr>
              <a:t>How It Works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97280"/>
            <a:ext cx="11155680" cy="0"/>
          </a:xfrm>
          <a:prstGeom prst="line">
            <a:avLst/>
          </a:prstGeom>
          <a:ln w="12700">
            <a:solidFill>
              <a:srgbClr val="D7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828800"/>
            <a:ext cx="1965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057400"/>
            <a:ext cx="1965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00929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9748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62741"/>
                </a:solidFill>
                <a:latin typeface="Aptos"/>
              </a:rPr>
              <a:t>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2D353E"/>
                </a:solidFill>
                <a:latin typeface="Aptos"/>
              </a:rPr>
              <a:t>Add a task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1828800"/>
            <a:ext cx="1965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98648" y="2057400"/>
            <a:ext cx="1965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009296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8" y="269748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62741"/>
                </a:solidFill>
                <a:latin typeface="Aptos"/>
              </a:rPr>
              <a:t>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3200400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2D353E"/>
                </a:solidFill>
                <a:latin typeface="Aptos"/>
              </a:rPr>
              <a:t>Study with timer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02936" y="1828800"/>
            <a:ext cx="1965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02936" y="2057400"/>
            <a:ext cx="1965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009296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2936" y="269748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62741"/>
                </a:solidFill>
                <a:latin typeface="Aptos"/>
              </a:rPr>
              <a:t>TRACK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3200400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2D353E"/>
                </a:solidFill>
                <a:latin typeface="Aptos"/>
              </a:rPr>
              <a:t>Add an expense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07224" y="1828800"/>
            <a:ext cx="1965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07224" y="2057400"/>
            <a:ext cx="1965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009296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7224" y="269748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62741"/>
                </a:solidFill>
                <a:latin typeface="Aptos"/>
              </a:rPr>
              <a:t>REVISE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4384" y="3200400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2D353E"/>
                </a:solidFill>
                <a:latin typeface="Aptos"/>
              </a:rPr>
              <a:t>Review flashcards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11512" y="1828800"/>
            <a:ext cx="1965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11512" y="2057400"/>
            <a:ext cx="1965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009296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1512" y="269748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62741"/>
                </a:solidFill>
                <a:latin typeface="Aptos"/>
              </a:rPr>
              <a:t>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3200400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2D353E"/>
                </a:solidFill>
                <a:latin typeface="Aptos"/>
              </a:rPr>
              <a:t>View dashboard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4709160"/>
            <a:ext cx="8503920" cy="822960"/>
          </a:xfrm>
          <a:prstGeom prst="roundRect">
            <a:avLst/>
          </a:prstGeom>
          <a:solidFill>
            <a:srgbClr val="E8F2F4"/>
          </a:solidFill>
          <a:ln>
            <a:solidFill>
              <a:srgbClr val="E8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965960" y="496519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009296"/>
                </a:solidFill>
                <a:latin typeface="Aptos"/>
              </a:rPr>
              <a:t>The result is a simple daily productivity cycle.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2881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4707C"/>
                </a:solidFill>
                <a:latin typeface="Aptos"/>
              </a:rPr>
              <a:t>STUDYWISE CLI • AI AVENGERS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528816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009296"/>
                </a:solidFill>
                <a:latin typeface="Aptos"/>
              </a:rPr>
              <a:t>HACKATHON 2026–27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713232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09296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649224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162741"/>
                </a:solidFill>
                <a:latin typeface="Aptos"/>
              </a:rPr>
              <a:t>Technology Used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97280"/>
            <a:ext cx="11155680" cy="0"/>
          </a:xfrm>
          <a:prstGeom prst="line">
            <a:avLst/>
          </a:prstGeom>
          <a:ln w="12700">
            <a:solidFill>
              <a:srgbClr val="D7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50876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73152" cy="1600200"/>
          </a:xfrm>
          <a:prstGeom prst="roundRect">
            <a:avLst/>
          </a:prstGeom>
          <a:solidFill>
            <a:srgbClr val="009296"/>
          </a:solidFill>
          <a:ln>
            <a:solidFill>
              <a:srgbClr val="009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691639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62741"/>
                </a:solidFill>
                <a:latin typeface="Aptos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148839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D353E"/>
                </a:solidFill>
                <a:latin typeface="Aptos"/>
              </a:rPr>
              <a:t>Main programming language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80559" y="1508760"/>
            <a:ext cx="73152" cy="1600200"/>
          </a:xfrm>
          <a:prstGeom prst="roundRect">
            <a:avLst/>
          </a:prstGeom>
          <a:solidFill>
            <a:srgbClr val="28AAB4"/>
          </a:solidFill>
          <a:ln>
            <a:solidFill>
              <a:srgbClr val="28A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36592" y="1691639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62741"/>
                </a:solidFill>
                <a:latin typeface="Aptos"/>
              </a:rPr>
              <a:t>RICH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2148839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D353E"/>
                </a:solidFill>
                <a:latin typeface="Aptos"/>
              </a:rPr>
              <a:t>Terminal 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50876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0" y="1508760"/>
            <a:ext cx="73152" cy="160020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85632" y="1691639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62741"/>
                </a:solidFill>
                <a:latin typeface="Aptos"/>
              </a:rPr>
              <a:t>SQLITE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2148839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D353E"/>
                </a:solidFill>
                <a:latin typeface="Aptos"/>
              </a:rPr>
              <a:t>Local database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747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1520" y="3474720"/>
            <a:ext cx="73152" cy="1600200"/>
          </a:xfrm>
          <a:prstGeom prst="roundRect">
            <a:avLst/>
          </a:prstGeom>
          <a:solidFill>
            <a:srgbClr val="B054A5"/>
          </a:solidFill>
          <a:ln>
            <a:solidFill>
              <a:srgbClr val="B05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365760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62741"/>
                </a:solidFill>
                <a:latin typeface="Aptos"/>
              </a:rPr>
              <a:t>PYTEST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114800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D353E"/>
                </a:solidFill>
                <a:latin typeface="Aptos"/>
              </a:rPr>
              <a:t>Testing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4747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480559" y="3474720"/>
            <a:ext cx="73152" cy="1600200"/>
          </a:xfrm>
          <a:prstGeom prst="roundRect">
            <a:avLst/>
          </a:prstGeom>
          <a:solidFill>
            <a:srgbClr val="ECB236"/>
          </a:solidFill>
          <a:ln>
            <a:solidFill>
              <a:srgbClr val="ECB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36592" y="365760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62741"/>
                </a:solidFill>
                <a:latin typeface="Aptos"/>
              </a:rPr>
              <a:t>GIT / GITHUB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2" y="4114800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D353E"/>
                </a:solidFill>
                <a:latin typeface="Aptos"/>
              </a:rPr>
              <a:t>Team collaboration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4846320"/>
            <a:ext cx="6675120" cy="822960"/>
          </a:xfrm>
          <a:prstGeom prst="roundRect">
            <a:avLst/>
          </a:prstGeom>
          <a:solidFill>
            <a:srgbClr val="E8F2F4"/>
          </a:solidFill>
          <a:ln>
            <a:solidFill>
              <a:srgbClr val="E8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880360" y="5102352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62741"/>
                </a:solidFill>
                <a:latin typeface="Aptos"/>
              </a:rPr>
              <a:t>Why? Fast to build • easy to run • no server needed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2881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4707C"/>
                </a:solidFill>
                <a:latin typeface="Aptos"/>
              </a:rPr>
              <a:t>STUDYWISE CLI • AI AVENGERS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528816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009296"/>
                </a:solidFill>
                <a:latin typeface="Aptos"/>
              </a:rPr>
              <a:t>HACKATHON 2026–27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3212" y="629931"/>
            <a:ext cx="50292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dirty="0">
                <a:solidFill>
                  <a:srgbClr val="009296"/>
                </a:solidFill>
                <a:latin typeface="Apto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566929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62741"/>
                </a:solidFill>
                <a:latin typeface="Aptos"/>
              </a:rPr>
              <a:t>Advantages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97280"/>
            <a:ext cx="11155680" cy="0"/>
          </a:xfrm>
          <a:prstGeom prst="line">
            <a:avLst/>
          </a:prstGeom>
          <a:ln w="12700">
            <a:solidFill>
              <a:srgbClr val="D7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508760"/>
            <a:ext cx="5212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73152" cy="347472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691639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62741"/>
                </a:solidFill>
                <a:latin typeface="Aptos"/>
              </a:rPr>
              <a:t>ADVANTAGES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148839"/>
            <a:ext cx="475488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D353E"/>
                </a:solidFill>
                <a:latin typeface="Aptos"/>
              </a:rPr>
              <a:t>• One app for daily student needs
• Works offline
• Easy terminal interface
• Saves data locally
• Shows progress clearly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212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73152" cy="3474720"/>
          </a:xfrm>
          <a:prstGeom prst="roundRect">
            <a:avLst/>
          </a:prstGeom>
          <a:solidFill>
            <a:srgbClr val="CD4A4A"/>
          </a:solidFill>
          <a:ln>
            <a:solidFill>
              <a:srgbClr val="CD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9672" y="1691639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62741"/>
                </a:solidFill>
                <a:latin typeface="Aptos"/>
              </a:rPr>
              <a:t>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148839"/>
            <a:ext cx="475488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D353E"/>
                </a:solidFill>
                <a:latin typeface="Aptos"/>
              </a:rPr>
              <a:t>• Terminal only
• No cloud sync yet
• No mobile app
• Basic analytics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5440680"/>
            <a:ext cx="8046720" cy="640080"/>
          </a:xfrm>
          <a:prstGeom prst="roundRect">
            <a:avLst/>
          </a:prstGeom>
          <a:solidFill>
            <a:srgbClr val="E8F2F4"/>
          </a:solidFill>
          <a:ln>
            <a:solidFill>
              <a:srgbClr val="E8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40280" y="5632704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62741"/>
                </a:solidFill>
                <a:latin typeface="Aptos"/>
              </a:rPr>
              <a:t>Good hackathon MVP with clear room to improve.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4707C"/>
                </a:solidFill>
                <a:latin typeface="Aptos"/>
              </a:rPr>
              <a:t>STUDYWISE CLI • AI AVENGERS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6528816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009296"/>
                </a:solidFill>
                <a:latin typeface="Aptos"/>
              </a:rPr>
              <a:t>HACKATHON 2026–27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59567"/>
            <a:ext cx="484632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09296"/>
                </a:solidFill>
                <a:latin typeface="Apto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2520" y="507492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162741"/>
                </a:solidFill>
                <a:latin typeface="Aptos"/>
              </a:rPr>
              <a:t>Future Scope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97280"/>
            <a:ext cx="11155680" cy="0"/>
          </a:xfrm>
          <a:prstGeom prst="line">
            <a:avLst/>
          </a:prstGeom>
          <a:ln w="12700">
            <a:solidFill>
              <a:srgbClr val="D7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55448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73152" cy="1645920"/>
          </a:xfrm>
          <a:prstGeom prst="roundRect">
            <a:avLst/>
          </a:prstGeom>
          <a:solidFill>
            <a:srgbClr val="009296"/>
          </a:solidFill>
          <a:ln>
            <a:solidFill>
              <a:srgbClr val="009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73736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62741"/>
                </a:solidFill>
                <a:latin typeface="Aptos"/>
              </a:rPr>
              <a:t>CALENDAR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19456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D353E"/>
                </a:solidFill>
                <a:latin typeface="Aptos"/>
              </a:rPr>
              <a:t>Add reminders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5448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80559" y="1554480"/>
            <a:ext cx="73152" cy="1645920"/>
          </a:xfrm>
          <a:prstGeom prst="roundRect">
            <a:avLst/>
          </a:prstGeom>
          <a:solidFill>
            <a:srgbClr val="28AAB4"/>
          </a:solidFill>
          <a:ln>
            <a:solidFill>
              <a:srgbClr val="28A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36592" y="173736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62741"/>
                </a:solidFill>
                <a:latin typeface="Aptos"/>
              </a:rPr>
              <a:t>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219456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D353E"/>
                </a:solidFill>
                <a:latin typeface="Aptos"/>
              </a:rPr>
              <a:t>Better progress charts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55448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0" y="1554480"/>
            <a:ext cx="73152" cy="1645920"/>
          </a:xfrm>
          <a:prstGeom prst="roundRect">
            <a:avLst/>
          </a:prstGeom>
          <a:solidFill>
            <a:srgbClr val="B054A5"/>
          </a:solidFill>
          <a:ln>
            <a:solidFill>
              <a:srgbClr val="B05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85632" y="173736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62741"/>
                </a:solidFill>
                <a:latin typeface="Aptos"/>
              </a:rP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219456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D353E"/>
                </a:solidFill>
                <a:latin typeface="Aptos"/>
              </a:rPr>
              <a:t>Personal study suggestions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6616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1520" y="3566160"/>
            <a:ext cx="73152" cy="164592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374904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62741"/>
                </a:solidFill>
                <a:latin typeface="Aptos"/>
              </a:rPr>
              <a:t>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20624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D353E"/>
                </a:solidFill>
                <a:latin typeface="Aptos"/>
              </a:rPr>
              <a:t>Sync across devices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56616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480559" y="3566160"/>
            <a:ext cx="73152" cy="1645920"/>
          </a:xfrm>
          <a:prstGeom prst="roundRect">
            <a:avLst/>
          </a:prstGeom>
          <a:solidFill>
            <a:srgbClr val="ECB236"/>
          </a:solidFill>
          <a:ln>
            <a:solidFill>
              <a:srgbClr val="ECB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36592" y="374904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62741"/>
                </a:solidFill>
                <a:latin typeface="Aptos"/>
              </a:rPr>
              <a:t>MOBILE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2" y="420624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D353E"/>
                </a:solidFill>
                <a:latin typeface="Aptos"/>
              </a:rPr>
              <a:t>Android / iOS app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57400" y="4892040"/>
            <a:ext cx="8138160" cy="822960"/>
          </a:xfrm>
          <a:prstGeom prst="roundRect">
            <a:avLst/>
          </a:prstGeom>
          <a:solidFill>
            <a:srgbClr val="E8F2F4"/>
          </a:solidFill>
          <a:ln>
            <a:solidFill>
              <a:srgbClr val="E8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94560" y="5148072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009296"/>
                </a:solidFill>
                <a:latin typeface="Aptos"/>
              </a:rPr>
              <a:t>Future goal: make StudyWise useful on every device.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2881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4707C"/>
                </a:solidFill>
                <a:latin typeface="Aptos"/>
              </a:rPr>
              <a:t>STUDYWISE CLI • AI AVENGERS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528816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009296"/>
                </a:solidFill>
                <a:latin typeface="Aptos"/>
              </a:rPr>
              <a:t>HACKATHON 2026–27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109728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09296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162741"/>
                </a:solidFill>
                <a:latin typeface="Aptos"/>
              </a:rPr>
              <a:t>STUDYWISE 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2D353E"/>
                </a:solidFill>
                <a:latin typeface="Aptos"/>
              </a:rPr>
              <a:t>One simple tool for student productivity.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34747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09296"/>
                </a:solidFill>
                <a:latin typeface="Aptos"/>
              </a:rPr>
              <a:t>PLAN
TRACK
LEARN
GROW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554480"/>
            <a:ext cx="4114800" cy="3474720"/>
          </a:xfrm>
          <a:prstGeom prst="roundRect">
            <a:avLst/>
          </a:prstGeom>
          <a:solidFill>
            <a:srgbClr val="F5F8F9"/>
          </a:solidFill>
          <a:ln>
            <a:solidFill>
              <a:srgbClr val="F5F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0" y="219456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162741"/>
                </a:solidFill>
                <a:latin typeface="Aptos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880360"/>
            <a:ext cx="33832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009296"/>
                </a:solidFill>
                <a:latin typeface="Aptos"/>
              </a:rPr>
              <a:t>AI AVENGERS
NTTF MURBAD
Questions?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807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64707C"/>
                </a:solidFill>
                <a:latin typeface="Aptos"/>
              </a:rPr>
              <a:t>Hackathon 2026–27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09296"/>
                </a:solidFill>
                <a:latin typeface="Aptos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56032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62741"/>
                </a:solidFill>
                <a:latin typeface="Aptos"/>
              </a:rPr>
              <a:t>Team — AI AVENGERS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97280"/>
            <a:ext cx="11155680" cy="0"/>
          </a:xfrm>
          <a:prstGeom prst="line">
            <a:avLst/>
          </a:prstGeom>
          <a:ln w="12700">
            <a:solidFill>
              <a:srgbClr val="D7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ic_12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417320"/>
            <a:ext cx="1691640" cy="2148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379476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62741"/>
                </a:solidFill>
                <a:latin typeface="Aptos"/>
              </a:rPr>
              <a:t>ADINATH.S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87952"/>
            <a:ext cx="22402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000" b="0" dirty="0">
                <a:solidFill>
                  <a:srgbClr val="64707C"/>
                </a:solidFill>
                <a:latin typeface="Aptos"/>
              </a:rPr>
              <a:t>PRESENTATOR</a:t>
            </a:r>
            <a:endParaRPr sz="1000" b="0" dirty="0">
              <a:solidFill>
                <a:srgbClr val="64707C"/>
              </a:solidFill>
              <a:latin typeface="Aptos"/>
            </a:endParaRPr>
          </a:p>
        </p:txBody>
      </p:sp>
      <p:pic>
        <p:nvPicPr>
          <p:cNvPr id="8" name="Picture 7" descr="pic_12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816" y="1417320"/>
            <a:ext cx="1691640" cy="2148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07208" y="379476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62741"/>
                </a:solidFill>
                <a:latin typeface="Aptos"/>
              </a:rPr>
              <a:t>DIPALI.R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7208" y="4187952"/>
            <a:ext cx="22402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000" dirty="0">
                <a:solidFill>
                  <a:srgbClr val="64707C"/>
                </a:solidFill>
                <a:latin typeface="Aptos"/>
              </a:rPr>
              <a:t>TESTER</a:t>
            </a:r>
            <a:endParaRPr sz="1000" b="0" dirty="0">
              <a:solidFill>
                <a:srgbClr val="64707C"/>
              </a:solidFill>
              <a:latin typeface="Aptos"/>
            </a:endParaRPr>
          </a:p>
        </p:txBody>
      </p:sp>
      <p:pic>
        <p:nvPicPr>
          <p:cNvPr id="11" name="Picture 10" descr="pic_12_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104" y="1417320"/>
            <a:ext cx="1691640" cy="2148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11496" y="379476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62741"/>
                </a:solidFill>
                <a:latin typeface="Aptos"/>
              </a:rPr>
              <a:t>KRISHNA.P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4178808"/>
            <a:ext cx="22402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000" b="0" dirty="0">
                <a:solidFill>
                  <a:srgbClr val="64707C"/>
                </a:solidFill>
                <a:latin typeface="Aptos"/>
              </a:rPr>
              <a:t>DOCUMENTATOR</a:t>
            </a:r>
            <a:endParaRPr sz="1000" b="0" dirty="0">
              <a:solidFill>
                <a:srgbClr val="64707C"/>
              </a:solidFill>
              <a:latin typeface="Aptos"/>
            </a:endParaRPr>
          </a:p>
        </p:txBody>
      </p:sp>
      <p:pic>
        <p:nvPicPr>
          <p:cNvPr id="14" name="Picture 13" descr="pic_12_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2" y="1417320"/>
            <a:ext cx="1691640" cy="21488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15784" y="379476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62741"/>
                </a:solidFill>
                <a:latin typeface="Aptos"/>
              </a:rPr>
              <a:t>SHIVAM.T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15784" y="4187952"/>
            <a:ext cx="22402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000" dirty="0">
                <a:solidFill>
                  <a:srgbClr val="64707C"/>
                </a:solidFill>
                <a:latin typeface="Aptos"/>
              </a:rPr>
              <a:t>DEVLOPER</a:t>
            </a:r>
            <a:endParaRPr sz="1000" b="0" dirty="0">
              <a:solidFill>
                <a:srgbClr val="64707C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720072" y="379476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62741"/>
                </a:solidFill>
                <a:latin typeface="Aptos"/>
              </a:rPr>
              <a:t>SAHIL.B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0072" y="4187952"/>
            <a:ext cx="22402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000" b="0" dirty="0">
                <a:solidFill>
                  <a:srgbClr val="64707C"/>
                </a:solidFill>
                <a:latin typeface="Aptos"/>
              </a:rPr>
              <a:t>DEBUGER</a:t>
            </a:r>
            <a:endParaRPr sz="1000" b="0" dirty="0">
              <a:solidFill>
                <a:srgbClr val="64707C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097280" y="5074920"/>
            <a:ext cx="9966960" cy="731520"/>
          </a:xfrm>
          <a:prstGeom prst="roundRect">
            <a:avLst/>
          </a:prstGeom>
          <a:solidFill>
            <a:srgbClr val="E8F2F4"/>
          </a:solidFill>
          <a:ln>
            <a:solidFill>
              <a:srgbClr val="E8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80160" y="532180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009296"/>
                </a:solidFill>
                <a:latin typeface="Aptos"/>
              </a:rPr>
              <a:t>Team goal: build one complete, working CLI product.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2881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4707C"/>
                </a:solidFill>
                <a:latin typeface="Aptos"/>
              </a:rPr>
              <a:t>STUDYWISE CLI • AI AVENGERS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528816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009296"/>
                </a:solidFill>
                <a:latin typeface="Aptos"/>
              </a:rPr>
              <a:t>HACKATHON 2026–27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9B7192C-1394-7655-35F9-CA3B754E3E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9677" y="1517908"/>
            <a:ext cx="1877211" cy="21122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DEs and Code editor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Career-Opportunities-in-Cyber-Security</Template>
  <TotalTime>18</TotalTime>
  <Words>601</Words>
  <Application>Microsoft Office PowerPoint</Application>
  <PresentationFormat>Widescreen</PresentationFormat>
  <Paragraphs>161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IDEs and Code editor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KRISHNA PRASAD</dc:creator>
  <cp:keywords/>
  <dc:description>generated using python-pptx</dc:description>
  <cp:lastModifiedBy>Krishna Prasad</cp:lastModifiedBy>
  <cp:revision>2</cp:revision>
  <dcterms:created xsi:type="dcterms:W3CDTF">2013-01-27T09:14:16Z</dcterms:created>
  <dcterms:modified xsi:type="dcterms:W3CDTF">2026-09-09T09:42:32Z</dcterms:modified>
  <cp:category/>
</cp:coreProperties>
</file>